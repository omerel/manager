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202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4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לניהול תכניות קריירה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6372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70332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ההנהלה הבכירה מגדירה את החוזה. המפקד מקבל את ההגה —</a:t>
            </a:r>
            <a:endParaRPr lang="en-US" sz="1800" dirty="0"/>
          </a:p>
          <a:p>
            <a:pPr rtl="1"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ואת הידיעה האם הוא עומד בו, לכל פקוד, בכל רגע.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502920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הצעה לפיילוט · תחום אחד · במשותף עם HR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862361" y="329184"/>
            <a:ext cx="552094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8" name="Shape 6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9" name="Shape 7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0" name="Shape 8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1" name="Shape 9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spc="220" kern="0" dirty="0">
                <a:solidFill>
                  <a:srgbClr val="7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ראשון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4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המצב היום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מפקד מנהל בשיטה שלו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6" name="Shape 4"/>
          <p:cNvSpPr/>
          <p:nvPr/>
        </p:nvSpPr>
        <p:spPr>
          <a:xfrm>
            <a:off x="10269118" y="329184"/>
            <a:ext cx="552094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8" name="Shape 6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9" name="Shape 7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0" name="Shape 8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1" name="Shape 9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עובדות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שקורה בפועל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181448" cy="141732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45059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אישי, לא ארגוני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8408" y="2834640"/>
            <a:ext cx="477911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מפקד שיטה משלו. אין דרך יעילה לעקוב אחרי האנשים, ואין דרך לדעת מה קורה אצל השכן.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3008" y="2286000"/>
            <a:ext cx="5181448" cy="141732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4176" y="245059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תכניות שנכתבו ודעכו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34176" y="2834640"/>
            <a:ext cx="477911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 ניסיונות חוזרים להגדיר תכנית קבועה. הן לא נאכפו לאורך זמן — לא בגלל התוכן, אלא בגלל שלא היה מי שיישא אותן.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5181448" cy="141732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14223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קטן ובירוקרטי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8408" y="4526280"/>
            <a:ext cx="477911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הצוות נותן מענה מנהלתי. מעטפת עשירה למפקדים דורשת מעקב שאין לו זמן אליו.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3977640"/>
            <a:ext cx="5181448" cy="141732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4176" y="414223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תסכול למטה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4176" y="4526280"/>
            <a:ext cx="477911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שקיפות להמשך הדרך, אין עקביות, ואין מעטפת קבועה שמאפשרת לאדם לדעת איך הוא צומח כאן.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6"/>
          <p:cNvSpPr/>
          <p:nvPr/>
        </p:nvSpPr>
        <p:spPr>
          <a:xfrm>
            <a:off x="9675876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9" name="Shape 17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8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9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20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1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3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4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7" name="Shape 25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8" name="Shape 26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9" name="Shape 27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0" name="Shape 28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2" name="Shape 30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ההוכחה כבר אצלכם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 אחד כן קורה כמו שצריך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3307" y="2331720"/>
            <a:ext cx="41148" cy="10515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חוות הדעת השנתיות מתבצעות במלואן —</a:t>
            </a:r>
            <a:endParaRPr lang="en-US" sz="25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 יש להן אכיפה מערכתית.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לא צירוף מקרים, וזו לא שאלה של מוטיבציה. מה שיש לו נשא מערכתי — קורה. מה שאין לו — לא קורה, שוב ושוב.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0" y="2286000"/>
            <a:ext cx="3550615" cy="123444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2450592"/>
            <a:ext cx="31482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חוות דעת שנתית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65008" y="2834640"/>
            <a:ext cx="3148279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מוגדר · מישהו נשאל · יש מחיר לאי-ביצוע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3657600"/>
            <a:ext cx="3550615" cy="123444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3822192"/>
            <a:ext cx="31482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תכנית קריירה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65008" y="4206240"/>
            <a:ext cx="3148279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· אף אחד לא נשאל · אין מחיר להתעלמות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5074920"/>
            <a:ext cx="3550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ההבדל אינו בחשיבות. הוא בנשא.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6" name="Shape 14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7" name="Shape 15"/>
          <p:cNvSpPr/>
          <p:nvPr/>
        </p:nvSpPr>
        <p:spPr>
          <a:xfrm>
            <a:off x="9082634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9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20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1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2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3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8" name="Shape 26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spc="220" kern="0" dirty="0">
                <a:solidFill>
                  <a:srgbClr val="7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שני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4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הרעיון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תכנית קריירה היא חוזה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6" name="Shape 4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7" name="Shape 5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8" name="Shape 6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9" name="Shape 7"/>
          <p:cNvSpPr/>
          <p:nvPr/>
        </p:nvSpPr>
        <p:spPr>
          <a:xfrm>
            <a:off x="8489391" y="329184"/>
            <a:ext cx="552094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1" name="Shape 9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צדדים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לחוזה יש מי שמבטיח ומי שאחראי לספק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871820" y="2240280"/>
            <a:ext cx="41148" cy="1234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495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הארגון מבטיח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495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מוגדר, זהה לכל מי שנמצא בו: אבני דרך, יעדים מצטברים, ומופעים תקופתיים — הכול ביחס לתאריך הגיוס של האדם. מי שכותב את החוזה: ההנהלה הבכירה.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373307" y="2240280"/>
            <a:ext cx="41148" cy="1234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6278728" y="2240280"/>
            <a:ext cx="495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המפקד אחראי לספק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78728" y="2578608"/>
            <a:ext cx="495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לוודא שכל פקוד עומד ביעדים שלו, לתעד את מה שקרה, ולהיות מסוגל לומר בכל רגע איפה הוא עומד. היום זה נשען על זיכרון. Helm הופך את זה לנמדד.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657600"/>
          <a:ext cx="10637215" cy="914400"/>
        </p:xfrm>
        <a:graphic>
          <a:graphicData uri="http://schemas.openxmlformats.org/drawingml/2006/table">
            <a:tbl>
              <a:tblPr/>
              <a:tblGrid>
                <a:gridCol w="5318608"/>
                <a:gridCol w="5318608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השאלה שהחוזה מעורר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מה עונה עליה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מה בדיוק הבטחנו?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 קריירה — תבנית אחת, זהה לכולם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האם הפקוד עומד בו?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מנוע פערים שמחשב מחדש בכל צפייה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איפה אני נופל, על פני כל אנשיי?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דשבורד ועץ מסגרות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איך אני מוכיח מה נעשה?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חוות דעת ומופעים, עם הקבצים המצורפים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ומה עם שאלה שלא חשבנו עליה?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הסוכן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2" name="Shape 9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3" name="Shape 10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4" name="Shape 11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5" name="Shape 12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6" name="Shape 13"/>
          <p:cNvSpPr/>
          <p:nvPr/>
        </p:nvSpPr>
        <p:spPr>
          <a:xfrm>
            <a:off x="7896149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7" name="Shape 14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5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6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7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8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19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0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1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2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3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7" name="Shape 24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8" name="Shape 25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הראשונה שתישאל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במה זה שונה מהפעמים הקודמות?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084832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חייבת להיות מכנית. לא מוטיבציה — מנגנון.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606040"/>
          <a:ext cx="10637215" cy="914400"/>
        </p:xfrm>
        <a:graphic>
          <a:graphicData uri="http://schemas.openxmlformats.org/drawingml/2006/table">
            <a:tbl>
              <a:tblPr/>
              <a:tblGrid>
                <a:gridCol w="5318608"/>
                <a:gridCol w="5318608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למה תכניות קודמות דעכו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מה נושא את זה ב-Helm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אף אחד לא נשאל ״אתה עומד בזה?״ ברגע שבו זה עוד ניתן לתיקון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מנוע הפערים מסמן מה מתקרב, מה חלף, ומה חסר — לכל אדם, כל הזמן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 מחיר להתעלמות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המצב גלוי כלפי מעלה, בעץ המסגרות, בלי דוח שצריך להכין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המפקד מתחלף — והתכנית נעלמת איתו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התכנית עוגנת בתאריך הגיוס של האיש, לא בקדנציה של המפקד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שינוי מסלול מאפס את מה שהיה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מעבר בין מסלולים שומר את ההיסטוריה, ומבחין בין ״לא נדרש ממנו״ ל״נדרש ולא בוצע״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8064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השורה השלישית היא המכרעת: ״לאורך זמן״ פירושו כמעט תמיד תחלופת מפקדים.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8" name="Shape 5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9" name="Shape 6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0" name="Shape 7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1" name="Shape 8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2" name="Shape 9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3" name="Shape 10"/>
          <p:cNvSpPr/>
          <p:nvPr/>
        </p:nvSpPr>
        <p:spPr>
          <a:xfrm>
            <a:off x="7302906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1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5" name="Shape 12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6" name="Shape 13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7" name="Shape 14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5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6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7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8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19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0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spc="220" kern="0" dirty="0">
                <a:solidFill>
                  <a:srgbClr val="7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שלישי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4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מסכים, ושאלה פתוחה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6" name="Shape 4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7" name="Shape 5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8" name="Shape 6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9" name="Shape 7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0" name="Shape 8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1" name="Shape 9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9664" y="329184"/>
            <a:ext cx="552094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ראשון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דשבורד — איפה אני נופל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עמידה ביחס לפקודים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כמספר אחד, ולידו כמה אירועים באי-עמידה וכמה מתקרבים.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4436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עץ המסגרות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מתגלגל כלפי מעלה: מרכז ◂ תחום ◂ מדור ◂ צוות. כל רמה רואה את מה שתחתיה.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60273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חתוך אוטומטית להרשאות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מפקד רואה את אנשיו, ראש תחום את התחום, ואף אחד לא רואה מעבר לזה.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261104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אין דוח להכין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המספר קיים כי הנתונים קיימים.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2148840"/>
            <a:ext cx="4099255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2148840"/>
            <a:ext cx="4099255" cy="365760"/>
          </a:xfrm>
          <a:prstGeom prst="rect">
            <a:avLst/>
          </a:prstGeom>
          <a:solidFill>
            <a:srgbClr val="022C22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2167128"/>
            <a:ext cx="38249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FE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  ·   דשבורד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15400" y="278892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ביחס לפקודים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3246120"/>
            <a:ext cx="1134770" cy="594360"/>
          </a:xfrm>
          <a:prstGeom prst="rect">
            <a:avLst/>
          </a:prstGeom>
          <a:solidFill>
            <a:srgbClr val="FAF9F7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71232" y="3291840"/>
            <a:ext cx="9884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71232" y="3593592"/>
            <a:ext cx="9884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באי-עמידה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742578" y="3246120"/>
            <a:ext cx="1134770" cy="594360"/>
          </a:xfrm>
          <a:prstGeom prst="rect">
            <a:avLst/>
          </a:prstGeom>
          <a:solidFill>
            <a:srgbClr val="FAF9F7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15730" y="3291840"/>
            <a:ext cx="9884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15730" y="3593592"/>
            <a:ext cx="9884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מתקרבים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987077" y="3246120"/>
            <a:ext cx="1134770" cy="594360"/>
          </a:xfrm>
          <a:prstGeom prst="rect">
            <a:avLst/>
          </a:prstGeom>
          <a:solidFill>
            <a:srgbClr val="FAF9F7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60229" y="3291840"/>
            <a:ext cx="9884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60229" y="3593592"/>
            <a:ext cx="9884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0" y="4023360"/>
            <a:ext cx="2361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תחום אלגוריתמיקה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97135" y="40233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6   🟡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26680" y="4334256"/>
            <a:ext cx="2133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מדור ראייה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97135" y="43342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4645152"/>
            <a:ext cx="1904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פיקסל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97135" y="46451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0" y="4956048"/>
            <a:ext cx="1904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עדשה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997135" y="4956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2" name="Shape 30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3" name="Shape 31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4" name="Shape 32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5" name="Shape 33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6" name="Shape 34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7" name="Shape 35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16422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9" name="Shape 37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0" name="Shape 38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1" name="Shape 39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2" name="Shape 40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3" name="Shape 41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4" name="Shape 42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5" name="Shape 43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6" name="Shape 44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7" name="Shape 45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שני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 — מי, באיזה מסלול, ובאיזה מצב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עמודת מסלול קריירה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לכל אדם — לחיצה פותחת את המסלול הגנרי שההנהלה הגדירה.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443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פילטר לכל עמודה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תוך כדי הקלדה: מי בתחום הזה, מי במסלול ההוא, מי עומד לסיים.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60273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כרטיס אישי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פרטים, תכנית, התקדמות, וכל חוות הדעת שנכתבו.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26110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״מי מהאנשים שלי בלי מסלול?״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שאלה של שתי לחיצות.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31720"/>
          <a:ext cx="5105095" cy="914400"/>
        </p:xfrm>
        <a:graphic>
          <a:graphicData uri="http://schemas.openxmlformats.org/drawingml/2006/table">
            <a:tbl>
              <a:tblPr/>
              <a:tblGrid>
                <a:gridCol w="1378376"/>
                <a:gridCol w="1531529"/>
                <a:gridCol w="1327325"/>
                <a:gridCol w="867866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מסגרת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 קריירה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סטטוס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נועם אזולאי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ראייה ◂ פיקסל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 מומחה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פעיל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שירה דגן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ראייה ◂ עדשה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 פיקוד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פעיל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איתמר גולן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שפה ◂ סמנטיקה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מסלול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פעיל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רותם קפלן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ראייה ◂ פיקסל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 קליטה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סיום מתוכנן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09360" y="4114800"/>
            <a:ext cx="5105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השמות להמחשה בלבד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1" name="Shape 8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2" name="Shape 9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3" name="Shape 10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4" name="Shape 11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5" name="Shape 12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6" name="Shape 13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7" name="Shape 14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5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6"/>
          <p:cNvSpPr/>
          <p:nvPr/>
        </p:nvSpPr>
        <p:spPr>
          <a:xfrm>
            <a:off x="5523179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0" name="Shape 17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8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19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0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1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2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3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7" name="Shape 24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שלישי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— כתיבת החוזה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אבני דרך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בחודש מוגדר מהגיוס, יעדים מצטברים עם נקודות ביקורת, ומופעים תקופתיים שנפרסים לבד.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99232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הכול יחסי לתאריך הגיוס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תבנית אחת משרתת את כולם, ומתורגמת לתאריכים אמיתיים לכל אדם.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712464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שיוך יוצר עותק עצמאי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עדכון התבנית לא משנה למפרע את מי שכבר במסלול.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425696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איור המסלול</a:t>
            </a:r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ניתן להפקה כ-PDF לשיחות אישיות ולמצגות.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2148840"/>
            <a:ext cx="4190695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00055" y="23774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72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06640" y="2377440"/>
            <a:ext cx="3001975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95728"/>
            <a:ext cx="2819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סיום המסלול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00055" y="27797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06640" y="2779776"/>
            <a:ext cx="3001975" cy="310896"/>
          </a:xfrm>
          <a:prstGeom prst="rect">
            <a:avLst/>
          </a:prstGeom>
          <a:solidFill>
            <a:srgbClr val="ECFDF5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798064"/>
            <a:ext cx="2819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ניהול · יעד 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00055" y="31821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3182112"/>
            <a:ext cx="3001975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3200400"/>
            <a:ext cx="2819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פיקוד בכיר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00055" y="35844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3584448"/>
            <a:ext cx="3001975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3602736"/>
            <a:ext cx="2819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חוות דעת תקופתית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00055" y="398678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06640" y="3986784"/>
            <a:ext cx="3001975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4005072"/>
            <a:ext cx="2819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צוות ראשון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00055" y="43891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4389120"/>
            <a:ext cx="3001975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4407408"/>
            <a:ext cx="2819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ניהול בסיסי · פטור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4828032"/>
            <a:ext cx="3001975" cy="365760"/>
          </a:xfrm>
          <a:prstGeom prst="rect">
            <a:avLst/>
          </a:prstGeom>
          <a:solidFill>
            <a:srgbClr val="022C22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864608"/>
            <a:ext cx="28190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גיוס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2" name="Shape 30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3" name="Shape 31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4" name="Shape 32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5" name="Shape 33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6" name="Shape 34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7" name="Shape 35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8" name="Shape 36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9" name="Shape 37"/>
          <p:cNvSpPr/>
          <p:nvPr/>
        </p:nvSpPr>
        <p:spPr>
          <a:xfrm>
            <a:off x="4929937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0" name="Shape 38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1" name="Shape 39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2" name="Shape 40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3" name="Shape 41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4" name="Shape 42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5" name="Shape 43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46" name="Shape 44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שקרה בפועל — עם ראיות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מופע תקופתי הוא משבצת שממתינה לתוכן: מי מילא, מתי, ומה נכתב. אפשר לצרף מסמכים — והם נשמרים עם הרשומה, לא בתיקייה אצל מישהו.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329184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מופע שחלף ולא מולא נצבע כפער, ולא נעלם.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367588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רשומות חופשיות לאירועים שאינם בתכנית — כנס, צל״ש, קורס חיצוני.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405993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מעבר בין מסלולים שומר את הכול, ומתעד גם את סיבת המעבר.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2194560"/>
            <a:ext cx="4556455" cy="123444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2359152"/>
            <a:ext cx="41541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⊘  פטור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59168" y="2743200"/>
            <a:ext cx="4154119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האירוע מוקדם ממועד שיוך העובד למסלול — מעולם לא נדרש ממנו. אין כאן כישלון.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3566160"/>
            <a:ext cx="4556455" cy="123444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9168" y="3730752"/>
            <a:ext cx="41541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נדרש ולא בוצע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59168" y="4114800"/>
            <a:ext cx="4154119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הגיע המועד, לא נעשה. מתועד לנצח, ואינו נספר כפער אחרי מעבר מסלול.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937760"/>
            <a:ext cx="4556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המילים נראות דומה בדוח, ואומרות דברים הפוכים על אדם. המערכת לא מערבבת אותן.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7" name="Shape 15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20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1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2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3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4"/>
          <p:cNvSpPr/>
          <p:nvPr/>
        </p:nvSpPr>
        <p:spPr>
          <a:xfrm>
            <a:off x="4336694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8" name="Shape 26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הלב של המערכת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שאלה חופשית, בשפה שלך, על האנשים שלך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25735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spc="160" kern="0" dirty="0">
                <a:solidFill>
                  <a:srgbClr val="7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המפקד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9265615" cy="502920"/>
          </a:xfrm>
          <a:prstGeom prst="rect">
            <a:avLst/>
          </a:prstGeom>
          <a:solidFill>
            <a:srgbClr val="06342A"/>
          </a:solidFill>
          <a:ln w="12700">
            <a:solidFill>
              <a:srgbClr val="1B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8991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E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מהאנשים שלי לא קיבל חוות דעת בשנה האחרונה, ומה מצב שעות הגמול שלהם?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25735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spc="1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9265615" cy="640080"/>
          </a:xfrm>
          <a:prstGeom prst="rect">
            <a:avLst/>
          </a:prstGeom>
          <a:solidFill>
            <a:srgbClr val="0B3C31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991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E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אנשים · לכל אחד מפורטים המופעים שלא מולאו, שעות הגמול מול היעד, וקישור לכרטיס.</a:t>
            </a:r>
            <a:endParaRPr lang="en-US" sz="12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E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נשענת רק על מה שבראות שלך.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5151" y="3794760"/>
            <a:ext cx="2586152" cy="685800"/>
          </a:xfrm>
          <a:prstGeom prst="rect">
            <a:avLst/>
          </a:prstGeom>
          <a:solidFill>
            <a:srgbClr val="06342A"/>
          </a:solidFill>
          <a:ln w="12700">
            <a:solidFill>
              <a:srgbClr val="1B4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4879" y="3877056"/>
            <a:ext cx="2366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E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שואלים בשפה חופשית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5848" y="3794760"/>
            <a:ext cx="2586152" cy="685800"/>
          </a:xfrm>
          <a:prstGeom prst="rect">
            <a:avLst/>
          </a:prstGeom>
          <a:solidFill>
            <a:srgbClr val="06342A"/>
          </a:solidFill>
          <a:ln w="12700">
            <a:solidFill>
              <a:srgbClr val="1B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5576" y="3877056"/>
            <a:ext cx="2366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E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מקבלים תשובה עם ראיות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36544" y="3794760"/>
            <a:ext cx="2586152" cy="6858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6272" y="3877056"/>
            <a:ext cx="2366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שומרים אותה כחוק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794760"/>
            <a:ext cx="2586152" cy="685800"/>
          </a:xfrm>
          <a:prstGeom prst="rect">
            <a:avLst/>
          </a:prstGeom>
          <a:solidFill>
            <a:srgbClr val="06342A"/>
          </a:solidFill>
          <a:ln w="12700">
            <a:solidFill>
              <a:srgbClr val="1B4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877056"/>
            <a:ext cx="2366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E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קבוע, מיידי, זהה בכל הרצה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 לא ״יש לנו AI״. זו </a:t>
            </a:r>
            <a:pPr algn="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חקירה שהופכת לתקן</a:t>
            </a:r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שאלה טובה שמפקד שאל פעם אחת הופכת לדוח שכל הארגון מריץ מכאן והלאה — בלי מודל, בלי אי-ודאות, ובאותה תוצאה בדיוק.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5778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7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קורא בלבד, ורק את מה שבהרשאות השואל. הוא אינו משנה דבר במערכת.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6" name="Shape 24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7" name="Shape 25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8" name="Shape 26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9" name="Shape 27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0" name="Shape 28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2" name="Shape 30"/>
          <p:cNvSpPr/>
          <p:nvPr/>
        </p:nvSpPr>
        <p:spPr>
          <a:xfrm>
            <a:off x="3743452" y="329184"/>
            <a:ext cx="552094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Shape 31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4" name="Shape 32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5" name="Shape 33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6" name="Shape 34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הקהל השני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HR קטן יכול לתת מעטפת רחבה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הזמן של HR נבלע במעקב, ולכן הוא לא מגיע לתמיכה. כשהמעקב נעשה לבד, מה שנשאר הוא ההתערבות — וזה בדיוק החלק שדורש אדם.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17520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היום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עם Helm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לאסוף מי בפיגור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הרשימה קיימת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להזכיר למפקדים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המפקד רואה לבד, לפני שזה הופך לפער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להכין דוח לכל בקשה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הדוח נשמר פעם אחת ורץ לבד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מענה בירוקרטי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ליווי ממוקד למי שבאמת צריך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373307" y="2194560"/>
            <a:ext cx="41148" cy="20116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2194560"/>
            <a:ext cx="3459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HR שותף בפיילוט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0" y="2560320"/>
            <a:ext cx="3459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הם היחידים שרואים את הרוחב, הם שיזהו איפה התכנית עצמה לא מתאימה למציאות, והם שיישאו את ההטמעה מול המפקדים.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0" y="3611880"/>
            <a:ext cx="3459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פיילוט בלי HR בודק כלי.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פיילוט עם HR בודק שיטה.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1" name="Shape 8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2" name="Shape 9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3" name="Shape 10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4" name="Shape 11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5" name="Shape 12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6" name="Shape 13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7" name="Shape 14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5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6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7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8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19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0"/>
          <p:cNvSpPr/>
          <p:nvPr/>
        </p:nvSpPr>
        <p:spPr>
          <a:xfrm>
            <a:off x="3150210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4" name="Shape 21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2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3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7" name="Shape 24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שהמערכת עדיין לא עושה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עדיף שתשמעו את זה כאן ולא בחודש השני.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5181448" cy="137160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67919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לפקוד אין משתמש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3063240"/>
            <a:ext cx="4779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המערכת משרתת מפקדים ו-HR. השקיפות לאיש מגיעה מכך שלמפקד יש סוף-סוף מה לומר לו — לא ממסך שהוא נכנס אליו.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3008" y="2514600"/>
            <a:ext cx="5181448" cy="137160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4176" y="267919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אישי לפקוד — החלטה, לא פיצ׳ר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34176" y="3063240"/>
            <a:ext cx="4779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חוות הדעת נכתבות עליו. לחשוף אותן משנה את אופי הכלי. זו החלטה שנרצה לקבל יחד, ולא להחליק.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5181448" cy="137160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32511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הנתונים לא מגיעים לבד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8408" y="4709160"/>
            <a:ext cx="4779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קליטה ראשונית של אנשים קיימים דורשת עבודה. יש לכך כלים — קליטה ממסמכים בעזרת הסוכן, וייבוא תצורה — אבל זה מאמץ אמיתי.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4160520"/>
            <a:ext cx="5181448" cy="1371600"/>
          </a:xfrm>
          <a:prstGeom prst="rect">
            <a:avLst/>
          </a:prstGeom>
          <a:solidFill>
            <a:srgbClr val="FAF9F7"/>
          </a:solidFill>
          <a:ln w="12700">
            <a:solidFill>
              <a:srgbClr val="E3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4176" y="4325112"/>
            <a:ext cx="477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לא מחליטה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34176" y="4709160"/>
            <a:ext cx="4779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מודדת מול חוזה שאתם כתבתם. אם החוזה לא נכון, המערכת תמדוד בנאמנות דבר לא נכון.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8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9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20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3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4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7" name="Shape 25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8" name="Shape 26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9" name="Shape 27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0" name="Shape 28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56967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spc="220" kern="0" dirty="0">
                <a:solidFill>
                  <a:srgbClr val="7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אנחנו מבקשים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86537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תחום אחד. שלושה חודשים. יחד עם HR.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021117" y="3200400"/>
            <a:ext cx="3393338" cy="1143000"/>
          </a:xfrm>
          <a:prstGeom prst="rect">
            <a:avLst/>
          </a:prstGeom>
          <a:solidFill>
            <a:srgbClr val="06342A"/>
          </a:solidFill>
          <a:ln w="12700">
            <a:solidFill>
              <a:srgbClr val="1B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03997" y="3291840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03997" y="3822192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תחום — כל המדורים והצוותים שתחתיו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9178" y="3200400"/>
            <a:ext cx="3393338" cy="1143000"/>
          </a:xfrm>
          <a:prstGeom prst="rect">
            <a:avLst/>
          </a:prstGeom>
          <a:solidFill>
            <a:srgbClr val="06342A"/>
          </a:solidFill>
          <a:ln w="12700">
            <a:solidFill>
              <a:srgbClr val="1B4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2058" y="3291840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82058" y="3822192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חודשים מרגע שהנתונים בפנים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3393338" cy="1143000"/>
          </a:xfrm>
          <a:prstGeom prst="rect">
            <a:avLst/>
          </a:prstGeom>
          <a:solidFill>
            <a:srgbClr val="06342A"/>
          </a:solidFill>
          <a:ln w="12700">
            <a:solidFill>
              <a:srgbClr val="1B4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91840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60120" y="3822192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מסלולים שההנהלה תגדיר לפיילוט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פריסה ארגונית. תחום אחד שבו נבדוק אם החוזה מחזיק כשיש מי שנושא אותו — ונחזור אליכם עם מספרים, לא עם התרשמות.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6" name="Shape 24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8" name="Shape 26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9" name="Shape 27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0" name="Shape 28"/>
          <p:cNvSpPr/>
          <p:nvPr/>
        </p:nvSpPr>
        <p:spPr>
          <a:xfrm>
            <a:off x="1963725" y="329184"/>
            <a:ext cx="552094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נדע שהצליח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71016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מדדים שנסכים עליהם מראש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כיסוי</a:t>
            </a:r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איזה אחוז מאנשי התחום משויכים למסלול בסוף החודש הראשון.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סגירת פערים</a:t>
            </a:r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כמה אירועים באי-עמידה היו בתחילה, וכמה בסוף.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שימוש אמיתי</a:t>
            </a:r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כמה מפקדים נכנסו מיוזמתם, ולא כי התבקשו.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עומס HR</a:t>
            </a:r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כמה בקשות לדוחות ידניים הגיעו, לעומת התקופה שלפני.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האנשים אומרים</a:t>
            </a:r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שאלון קצר לפקודי התחום בתחילה ובסוף, על שקיפות ההמשך.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המדד האחרון הוא החשוב ביותר, והוא היחיד שלא מגיע מהמערכת.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373307" y="2194560"/>
            <a:ext cx="41148" cy="2377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194560"/>
            <a:ext cx="3459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נדרש מכם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2560320"/>
            <a:ext cx="3459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על התחום · שני מסלולים מוגדרים · איש קשר ב-HR · וגישה לנתוני האנשים הקיימים.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0" y="3520440"/>
            <a:ext cx="3459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נדרש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3886200"/>
            <a:ext cx="3459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בתהליכי העבודה, מערכת חדשה ללמוד, או התחייבות מעבר לשלושת החודשים.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7" name="Shape 15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2" name="Shape 20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3" name="Shape 21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4" name="Shape 22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5" name="Shape 23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6" name="Shape 24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8" name="Shape 26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0482" y="329184"/>
            <a:ext cx="552094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402336"/>
            <a:ext cx="552094" cy="54864"/>
          </a:xfrm>
          <a:prstGeom prst="rect">
            <a:avLst/>
          </a:prstGeom>
          <a:solidFill>
            <a:srgbClr val="E3E0DC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0"/>
            <a:ext cx="1063721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כותבים את החוזה.</a:t>
            </a:r>
            <a:endParaRPr lang="en-US" sz="40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נדאג שמישהו יישא אותו.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86236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5" name="Shape 3"/>
          <p:cNvSpPr/>
          <p:nvPr/>
        </p:nvSpPr>
        <p:spPr>
          <a:xfrm>
            <a:off x="10269118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6" name="Shape 4"/>
          <p:cNvSpPr/>
          <p:nvPr/>
        </p:nvSpPr>
        <p:spPr>
          <a:xfrm>
            <a:off x="967587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7" name="Shape 5"/>
          <p:cNvSpPr/>
          <p:nvPr/>
        </p:nvSpPr>
        <p:spPr>
          <a:xfrm>
            <a:off x="908263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8" name="Shape 6"/>
          <p:cNvSpPr/>
          <p:nvPr/>
        </p:nvSpPr>
        <p:spPr>
          <a:xfrm>
            <a:off x="8489391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9" name="Shape 7"/>
          <p:cNvSpPr/>
          <p:nvPr/>
        </p:nvSpPr>
        <p:spPr>
          <a:xfrm>
            <a:off x="789614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0" name="Shape 8"/>
          <p:cNvSpPr/>
          <p:nvPr/>
        </p:nvSpPr>
        <p:spPr>
          <a:xfrm>
            <a:off x="7302906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1" name="Shape 9"/>
          <p:cNvSpPr/>
          <p:nvPr/>
        </p:nvSpPr>
        <p:spPr>
          <a:xfrm>
            <a:off x="670966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642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3" name="Shape 11"/>
          <p:cNvSpPr/>
          <p:nvPr/>
        </p:nvSpPr>
        <p:spPr>
          <a:xfrm>
            <a:off x="5523179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492993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6694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74345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3150210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6967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63725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0482" y="402336"/>
            <a:ext cx="552094" cy="54864"/>
          </a:xfrm>
          <a:prstGeom prst="rect">
            <a:avLst/>
          </a:prstGeom>
          <a:solidFill>
            <a:srgbClr val="1B4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29184"/>
            <a:ext cx="552094" cy="128016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Helm — הצעה לפיילוט</dc:title>
  <dc:subject>PptxGenJS Presentation</dc:subject>
  <dc:creator>Helm</dc:creator>
  <cp:lastModifiedBy>Helm</cp:lastModifiedBy>
  <cp:revision>1</cp:revision>
  <dcterms:created xsi:type="dcterms:W3CDTF">2026-08-02T18:49:51Z</dcterms:created>
  <dcterms:modified xsi:type="dcterms:W3CDTF">2026-08-02T18:49:51Z</dcterms:modified>
</cp:coreProperties>
</file>